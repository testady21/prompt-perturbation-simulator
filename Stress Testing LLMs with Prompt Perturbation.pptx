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5" roundtripDataSignature="AMtx7mh8LLDgSejI096KJZwZaTOKogTI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13fd3ee9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3b13fd3ee9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13fd3ee9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13fd3ee9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13fd3ee9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13fd3ee9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13fd3ee9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13fd3ee9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13fd3ee9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13fd3ee9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13fd3ee9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13fd3ee9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13fd3ee94_3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13fd3ee94_3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13fd3ee9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b13fd3ee9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13fd3ee9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13fd3ee9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13fd3ee9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13fd3ee9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13fd3ee9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b13fd3ee9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13fd3ee9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13fd3ee9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b13d058b2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b13d058b2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13fd3ee9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13fd3ee9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13fd3ee9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13fd3ee9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13d058b2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b13d058b2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13fd3ee94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13fd3ee94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13d058b2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b13d058b2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13d058b2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b13d058b2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13fd3ee94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b13fd3ee94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13fd3ee94_0_1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13fd3ee94_0_1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13d058b2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b13d058b2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b13fd3ee94_0_1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b13fd3ee94_0_1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1"/>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1"/>
          <p:cNvSpPr/>
          <p:nvPr/>
        </p:nvSpPr>
        <p:spPr>
          <a:xfrm flipH="1">
            <a:off x="8246400" y="4245875"/>
            <a:ext cx="897600" cy="897600"/>
          </a:xfrm>
          <a:prstGeom prst="round1Rect">
            <a:avLst>
              <a:gd fmla="val 16667" name="adj"/>
            </a:avLst>
          </a:prstGeom>
          <a:solidFill>
            <a:schemeClr val="lt1">
              <a:alpha val="6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1"/>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 name="Google Shape;13;p21"/>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15" name="Shape 15"/>
        <p:cNvGrpSpPr/>
        <p:nvPr/>
      </p:nvGrpSpPr>
      <p:grpSpPr>
        <a:xfrm>
          <a:off x="0" y="0"/>
          <a:ext cx="0" cy="0"/>
          <a:chOff x="0" y="0"/>
          <a:chExt cx="0" cy="0"/>
        </a:xfrm>
      </p:grpSpPr>
      <p:sp>
        <p:nvSpPr>
          <p:cNvPr id="16" name="Google Shape;16;p2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3"/>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3"/>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21" name="Google Shape;21;p23"/>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2" name="Google Shape;22;p2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24"/>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4"/>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27" name="Google Shape;27;p24"/>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 name="Shape 28"/>
        <p:cNvGrpSpPr/>
        <p:nvPr/>
      </p:nvGrpSpPr>
      <p:grpSpPr>
        <a:xfrm>
          <a:off x="0" y="0"/>
          <a:ext cx="0" cy="0"/>
          <a:chOff x="0" y="0"/>
          <a:chExt cx="0" cy="0"/>
        </a:xfrm>
      </p:grpSpPr>
      <p:sp>
        <p:nvSpPr>
          <p:cNvPr id="29" name="Google Shape;29;p25"/>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30" name="Google Shape;30;p2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6"/>
          <p:cNvSpPr txBox="1"/>
          <p:nvPr>
            <p:ph type="title"/>
          </p:nvPr>
        </p:nvSpPr>
        <p:spPr>
          <a:xfrm>
            <a:off x="460950" y="2065350"/>
            <a:ext cx="8222100" cy="1012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33" name="Google Shape;33;p26"/>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27"/>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7"/>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8" name="Google Shape;38;p27"/>
          <p:cNvSpPr txBox="1"/>
          <p:nvPr>
            <p:ph idx="1" type="body"/>
          </p:nvPr>
        </p:nvSpPr>
        <p:spPr>
          <a:xfrm>
            <a:off x="471900" y="1919075"/>
            <a:ext cx="3999900" cy="2710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9" name="Google Shape;39;p27"/>
          <p:cNvSpPr txBox="1"/>
          <p:nvPr>
            <p:ph idx="2" type="body"/>
          </p:nvPr>
        </p:nvSpPr>
        <p:spPr>
          <a:xfrm>
            <a:off x="4694250" y="1919075"/>
            <a:ext cx="3999900" cy="2710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0" name="Google Shape;40;p27"/>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28"/>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8"/>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8"/>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5" name="Google Shape;45;p28"/>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lt1"/>
              </a:buClr>
              <a:buSzPts val="1200"/>
              <a:buChar char="●"/>
              <a:defRPr sz="1200">
                <a:solidFill>
                  <a:schemeClr val="lt1"/>
                </a:solidFill>
              </a:defRPr>
            </a:lvl1pPr>
            <a:lvl2pPr indent="-304800" lvl="1" marL="914400" algn="l">
              <a:lnSpc>
                <a:spcPct val="115000"/>
              </a:lnSpc>
              <a:spcBef>
                <a:spcPts val="1600"/>
              </a:spcBef>
              <a:spcAft>
                <a:spcPts val="0"/>
              </a:spcAft>
              <a:buClr>
                <a:schemeClr val="lt1"/>
              </a:buClr>
              <a:buSzPts val="1200"/>
              <a:buChar char="○"/>
              <a:defRPr sz="1200">
                <a:solidFill>
                  <a:schemeClr val="lt1"/>
                </a:solidFill>
              </a:defRPr>
            </a:lvl2pPr>
            <a:lvl3pPr indent="-304800" lvl="2" marL="1371600" algn="l">
              <a:lnSpc>
                <a:spcPct val="115000"/>
              </a:lnSpc>
              <a:spcBef>
                <a:spcPts val="1600"/>
              </a:spcBef>
              <a:spcAft>
                <a:spcPts val="0"/>
              </a:spcAft>
              <a:buClr>
                <a:schemeClr val="lt1"/>
              </a:buClr>
              <a:buSzPts val="1200"/>
              <a:buChar char="■"/>
              <a:defRPr sz="1200">
                <a:solidFill>
                  <a:schemeClr val="lt1"/>
                </a:solidFill>
              </a:defRPr>
            </a:lvl3pPr>
            <a:lvl4pPr indent="-304800" lvl="3" marL="1828800" algn="l">
              <a:lnSpc>
                <a:spcPct val="115000"/>
              </a:lnSpc>
              <a:spcBef>
                <a:spcPts val="1600"/>
              </a:spcBef>
              <a:spcAft>
                <a:spcPts val="0"/>
              </a:spcAft>
              <a:buClr>
                <a:schemeClr val="lt1"/>
              </a:buClr>
              <a:buSzPts val="1200"/>
              <a:buChar char="●"/>
              <a:defRPr sz="1200">
                <a:solidFill>
                  <a:schemeClr val="lt1"/>
                </a:solidFill>
              </a:defRPr>
            </a:lvl4pPr>
            <a:lvl5pPr indent="-304800" lvl="4" marL="2286000" algn="l">
              <a:lnSpc>
                <a:spcPct val="115000"/>
              </a:lnSpc>
              <a:spcBef>
                <a:spcPts val="1600"/>
              </a:spcBef>
              <a:spcAft>
                <a:spcPts val="0"/>
              </a:spcAft>
              <a:buClr>
                <a:schemeClr val="lt1"/>
              </a:buClr>
              <a:buSzPts val="1200"/>
              <a:buChar char="○"/>
              <a:defRPr sz="1200">
                <a:solidFill>
                  <a:schemeClr val="lt1"/>
                </a:solidFill>
              </a:defRPr>
            </a:lvl5pPr>
            <a:lvl6pPr indent="-304800" lvl="5" marL="2743200" algn="l">
              <a:lnSpc>
                <a:spcPct val="115000"/>
              </a:lnSpc>
              <a:spcBef>
                <a:spcPts val="1600"/>
              </a:spcBef>
              <a:spcAft>
                <a:spcPts val="0"/>
              </a:spcAft>
              <a:buClr>
                <a:schemeClr val="lt1"/>
              </a:buClr>
              <a:buSzPts val="1200"/>
              <a:buChar char="■"/>
              <a:defRPr sz="1200">
                <a:solidFill>
                  <a:schemeClr val="lt1"/>
                </a:solidFill>
              </a:defRPr>
            </a:lvl6pPr>
            <a:lvl7pPr indent="-304800" lvl="6" marL="3200400" algn="l">
              <a:lnSpc>
                <a:spcPct val="115000"/>
              </a:lnSpc>
              <a:spcBef>
                <a:spcPts val="1600"/>
              </a:spcBef>
              <a:spcAft>
                <a:spcPts val="0"/>
              </a:spcAft>
              <a:buClr>
                <a:schemeClr val="lt1"/>
              </a:buClr>
              <a:buSzPts val="1200"/>
              <a:buChar char="●"/>
              <a:defRPr sz="1200">
                <a:solidFill>
                  <a:schemeClr val="lt1"/>
                </a:solidFill>
              </a:defRPr>
            </a:lvl7pPr>
            <a:lvl8pPr indent="-304800" lvl="7" marL="3657600" algn="l">
              <a:lnSpc>
                <a:spcPct val="115000"/>
              </a:lnSpc>
              <a:spcBef>
                <a:spcPts val="1600"/>
              </a:spcBef>
              <a:spcAft>
                <a:spcPts val="0"/>
              </a:spcAft>
              <a:buClr>
                <a:schemeClr val="lt1"/>
              </a:buClr>
              <a:buSzPts val="1200"/>
              <a:buChar char="○"/>
              <a:defRPr sz="1200">
                <a:solidFill>
                  <a:schemeClr val="lt1"/>
                </a:solidFill>
              </a:defRPr>
            </a:lvl8pPr>
            <a:lvl9pPr indent="-304800" lvl="8" marL="4114800" algn="l">
              <a:lnSpc>
                <a:spcPct val="115000"/>
              </a:lnSpc>
              <a:spcBef>
                <a:spcPts val="1600"/>
              </a:spcBef>
              <a:spcAft>
                <a:spcPts val="1600"/>
              </a:spcAft>
              <a:buClr>
                <a:schemeClr val="lt1"/>
              </a:buClr>
              <a:buSzPts val="1200"/>
              <a:buChar char="■"/>
              <a:defRPr sz="1200">
                <a:solidFill>
                  <a:schemeClr val="lt1"/>
                </a:solidFill>
              </a:defRPr>
            </a:lvl9pPr>
          </a:lstStyle>
          <a:p/>
        </p:txBody>
      </p:sp>
      <p:sp>
        <p:nvSpPr>
          <p:cNvPr id="46" name="Google Shape;46;p2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2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p:txBody>
      </p:sp>
      <p:sp>
        <p:nvSpPr>
          <p:cNvPr id="51" name="Google Shape;51;p29"/>
          <p:cNvSpPr txBox="1"/>
          <p:nvPr>
            <p:ph idx="1" type="subTitle"/>
          </p:nvPr>
        </p:nvSpPr>
        <p:spPr>
          <a:xfrm>
            <a:off x="265500" y="2779467"/>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2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53" name="Google Shape;53;p2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3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3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30"/>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stStyle>
          <a:p/>
        </p:txBody>
      </p:sp>
      <p:sp>
        <p:nvSpPr>
          <p:cNvPr id="58" name="Google Shape;58;p30"/>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9" name="Shape 59"/>
        <p:cNvGrpSpPr/>
        <p:nvPr/>
      </p:nvGrpSpPr>
      <p:grpSpPr>
        <a:xfrm>
          <a:off x="0" y="0"/>
          <a:ext cx="0" cy="0"/>
          <a:chOff x="0" y="0"/>
          <a:chExt cx="0" cy="0"/>
        </a:xfrm>
      </p:grpSpPr>
      <p:sp>
        <p:nvSpPr>
          <p:cNvPr id="60" name="Google Shape;60;p31"/>
          <p:cNvSpPr txBox="1"/>
          <p:nvPr>
            <p:ph hasCustomPrompt="1" type="title"/>
          </p:nvPr>
        </p:nvSpPr>
        <p:spPr>
          <a:xfrm>
            <a:off x="475500" y="1258525"/>
            <a:ext cx="82221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61" name="Google Shape;61;p31"/>
          <p:cNvSpPr txBox="1"/>
          <p:nvPr>
            <p:ph idx="1" type="body"/>
          </p:nvPr>
        </p:nvSpPr>
        <p:spPr>
          <a:xfrm>
            <a:off x="475500" y="3304625"/>
            <a:ext cx="82221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62" name="Google Shape;62;p3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7" name="Google Shape;7;p20"/>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2"/>
              </a:buClr>
              <a:buSzPts val="1800"/>
              <a:buFont typeface="Roboto"/>
              <a:buChar char="●"/>
              <a:defRPr b="0" i="0" sz="1800" u="none" cap="none" strike="noStrike">
                <a:solidFill>
                  <a:schemeClr val="lt2"/>
                </a:solidFill>
                <a:latin typeface="Roboto"/>
                <a:ea typeface="Roboto"/>
                <a:cs typeface="Roboto"/>
                <a:sym typeface="Roboto"/>
              </a:defRPr>
            </a:lvl1pPr>
            <a:lvl2pPr indent="-317500" lvl="1" marL="9144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2pPr>
            <a:lvl3pPr indent="-317500" lvl="2" marL="13716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3pPr>
            <a:lvl4pPr indent="-317500" lvl="3" marL="18288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4pPr>
            <a:lvl5pPr indent="-317500" lvl="4" marL="22860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5pPr>
            <a:lvl6pPr indent="-317500" lvl="5" marL="27432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6pPr>
            <a:lvl7pPr indent="-317500" lvl="6" marL="32004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7pPr>
            <a:lvl8pPr indent="-317500" lvl="7" marL="36576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8pPr>
            <a:lvl9pPr indent="-317500" lvl="8" marL="4114800" marR="0" rtl="0" algn="l">
              <a:lnSpc>
                <a:spcPct val="115000"/>
              </a:lnSpc>
              <a:spcBef>
                <a:spcPts val="1600"/>
              </a:spcBef>
              <a:spcAft>
                <a:spcPts val="1600"/>
              </a:spcAft>
              <a:buClr>
                <a:schemeClr val="lt2"/>
              </a:buClr>
              <a:buSzPts val="1400"/>
              <a:buFont typeface="Roboto"/>
              <a:buChar char="■"/>
              <a:defRPr b="0" i="0" sz="1400" u="none" cap="none" strike="noStrike">
                <a:solidFill>
                  <a:schemeClr val="lt2"/>
                </a:solidFill>
                <a:latin typeface="Roboto"/>
                <a:ea typeface="Roboto"/>
                <a:cs typeface="Roboto"/>
                <a:sym typeface="Roboto"/>
              </a:defRPr>
            </a:lvl9pPr>
          </a:lstStyle>
          <a:p/>
        </p:txBody>
      </p:sp>
      <p:sp>
        <p:nvSpPr>
          <p:cNvPr id="8" name="Google Shape;8;p20"/>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1"/>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
                <a:solidFill>
                  <a:srgbClr val="000000"/>
                </a:solidFill>
              </a:rPr>
              <a:t>Advait Singh, Ishan Kotwani, Prachi Garg</a:t>
            </a:r>
            <a:endParaRPr>
              <a:solidFill>
                <a:srgbClr val="000000"/>
              </a:solidFill>
            </a:endParaRPr>
          </a:p>
          <a:p>
            <a:pPr indent="0" lvl="0" marL="0" rtl="0" algn="l">
              <a:lnSpc>
                <a:spcPct val="100000"/>
              </a:lnSpc>
              <a:spcBef>
                <a:spcPts val="0"/>
              </a:spcBef>
              <a:spcAft>
                <a:spcPts val="0"/>
              </a:spcAft>
              <a:buSzPts val="1800"/>
              <a:buNone/>
            </a:pPr>
            <a:r>
              <a:rPr lang="en">
                <a:solidFill>
                  <a:srgbClr val="000000"/>
                </a:solidFill>
              </a:rPr>
              <a:t>Course:  CS F429 - Natural Language Processing</a:t>
            </a:r>
            <a:endParaRPr>
              <a:solidFill>
                <a:srgbClr val="000000"/>
              </a:solidFill>
            </a:endParaRPr>
          </a:p>
          <a:p>
            <a:pPr indent="0" lvl="0" marL="0" rtl="0" algn="l">
              <a:lnSpc>
                <a:spcPct val="100000"/>
              </a:lnSpc>
              <a:spcBef>
                <a:spcPts val="0"/>
              </a:spcBef>
              <a:spcAft>
                <a:spcPts val="0"/>
              </a:spcAft>
              <a:buSzPts val="1800"/>
              <a:buNone/>
            </a:pPr>
            <a:r>
              <a:rPr lang="en">
                <a:solidFill>
                  <a:srgbClr val="000000"/>
                </a:solidFill>
              </a:rPr>
              <a:t>December 17 , 2025</a:t>
            </a:r>
            <a:endParaRPr>
              <a:solidFill>
                <a:srgbClr val="000000"/>
              </a:solidFill>
            </a:endParaRPr>
          </a:p>
        </p:txBody>
      </p:sp>
      <p:sp>
        <p:nvSpPr>
          <p:cNvPr id="68" name="Google Shape;68;p1"/>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b="1" lang="en" sz="5500">
                <a:solidFill>
                  <a:srgbClr val="FF4D00"/>
                </a:solidFill>
              </a:rPr>
              <a:t>Stress Testing LLMs with Prompt Perturbations</a:t>
            </a:r>
            <a:endParaRPr b="1" sz="5500">
              <a:solidFill>
                <a:srgbClr val="FF4D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72" name="Shape 72"/>
        <p:cNvGrpSpPr/>
        <p:nvPr/>
      </p:nvGrpSpPr>
      <p:grpSpPr>
        <a:xfrm>
          <a:off x="0" y="0"/>
          <a:ext cx="0" cy="0"/>
          <a:chOff x="0" y="0"/>
          <a:chExt cx="0" cy="0"/>
        </a:xfrm>
      </p:grpSpPr>
      <p:sp>
        <p:nvSpPr>
          <p:cNvPr id="73" name="Google Shape;73;p1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4000"/>
              <a:t> Motivation</a:t>
            </a:r>
            <a:endParaRPr sz="4000"/>
          </a:p>
        </p:txBody>
      </p:sp>
      <p:sp>
        <p:nvSpPr>
          <p:cNvPr id="74" name="Google Shape;74;p11"/>
          <p:cNvSpPr txBox="1"/>
          <p:nvPr>
            <p:ph idx="1" type="body"/>
          </p:nvPr>
        </p:nvSpPr>
        <p:spPr>
          <a:xfrm>
            <a:off x="471900" y="1919075"/>
            <a:ext cx="8222100" cy="30105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lang="en">
                <a:solidFill>
                  <a:srgbClr val="000000"/>
                </a:solidFill>
                <a:latin typeface="Arial"/>
                <a:ea typeface="Arial"/>
                <a:cs typeface="Arial"/>
                <a:sym typeface="Arial"/>
              </a:rPr>
              <a:t>As Large Language Models (LLMs) become staples in real-world technology, a significant challenge has emerged: their sensitivity to how a user phrases a request. Because users rarely provide perfectly structured or uniform prompts, even minor variations—such as a simple typo, the choice of a synonym, or a slight change in the order of instructions can cause the model to produce wildly inconsistent results.</a:t>
            </a:r>
            <a:endParaRPr>
              <a:solidFill>
                <a:srgbClr val="000000"/>
              </a:solidFill>
              <a:latin typeface="Arial"/>
              <a:ea typeface="Arial"/>
              <a:cs typeface="Arial"/>
              <a:sym typeface="Arial"/>
            </a:endParaRPr>
          </a:p>
          <a:p>
            <a:pPr indent="0" lvl="0" marL="0" rtl="0" algn="l">
              <a:spcBef>
                <a:spcPts val="1200"/>
              </a:spcBef>
              <a:spcAft>
                <a:spcPts val="0"/>
              </a:spcAft>
              <a:buNone/>
            </a:pPr>
            <a:r>
              <a:rPr lang="en">
                <a:solidFill>
                  <a:srgbClr val="000000"/>
                </a:solidFill>
                <a:latin typeface="Arial"/>
                <a:ea typeface="Arial"/>
                <a:cs typeface="Arial"/>
                <a:sym typeface="Arial"/>
              </a:rPr>
              <a:t>This lack of stability raises critical concerns regarding the reliability, fairness, and overall trustworthiness of systems built on these models.</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78" name="Shape 78"/>
        <p:cNvGrpSpPr/>
        <p:nvPr/>
      </p:nvGrpSpPr>
      <p:grpSpPr>
        <a:xfrm>
          <a:off x="0" y="0"/>
          <a:ext cx="0" cy="0"/>
          <a:chOff x="0" y="0"/>
          <a:chExt cx="0" cy="0"/>
        </a:xfrm>
      </p:grpSpPr>
      <p:sp>
        <p:nvSpPr>
          <p:cNvPr id="79" name="Google Shape;79;g3b13fd3ee94_0_7"/>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sz="4000"/>
              <a:t>Problem Statement</a:t>
            </a:r>
            <a:endParaRPr sz="4000"/>
          </a:p>
        </p:txBody>
      </p:sp>
      <p:sp>
        <p:nvSpPr>
          <p:cNvPr id="80" name="Google Shape;80;g3b13fd3ee94_0_7"/>
          <p:cNvSpPr txBox="1"/>
          <p:nvPr>
            <p:ph idx="1" type="body"/>
          </p:nvPr>
        </p:nvSpPr>
        <p:spPr>
          <a:xfrm>
            <a:off x="471900" y="1919075"/>
            <a:ext cx="8222100" cy="30105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lang="en">
                <a:solidFill>
                  <a:srgbClr val="000000"/>
                </a:solidFill>
                <a:latin typeface="Arial"/>
                <a:ea typeface="Arial"/>
                <a:cs typeface="Arial"/>
                <a:sym typeface="Arial"/>
              </a:rPr>
              <a:t>Despite their widespread use, LLMs exhibit high sensitivity to prompt phrasing, often yielding inconsistent results from minor changes like typos or synonyms. While current evaluations focus on fixed benchmarks and structured templates, they fail to account for the informal, varied nature of real-world human input. </a:t>
            </a:r>
            <a:endParaRPr>
              <a:solidFill>
                <a:srgbClr val="000000"/>
              </a:solidFill>
              <a:latin typeface="Arial"/>
              <a:ea typeface="Arial"/>
              <a:cs typeface="Arial"/>
              <a:sym typeface="Arial"/>
            </a:endParaRPr>
          </a:p>
          <a:p>
            <a:pPr indent="0" lvl="0" marL="0" rtl="0" algn="l">
              <a:spcBef>
                <a:spcPts val="1200"/>
              </a:spcBef>
              <a:spcAft>
                <a:spcPts val="1200"/>
              </a:spcAft>
              <a:buNone/>
            </a:pPr>
            <a:r>
              <a:rPr lang="en">
                <a:solidFill>
                  <a:srgbClr val="000000"/>
                </a:solidFill>
                <a:latin typeface="Arial"/>
                <a:ea typeface="Arial"/>
                <a:cs typeface="Arial"/>
                <a:sym typeface="Arial"/>
              </a:rPr>
              <a:t>This research aims to systematically evaluate how realistic prompt perturbations affect LLM responses to ensure the reliability, fairness, and trustworthiness of these systems in production.</a:t>
            </a:r>
            <a:endParaRPr>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84" name="Shape 84"/>
        <p:cNvGrpSpPr/>
        <p:nvPr/>
      </p:nvGrpSpPr>
      <p:grpSpPr>
        <a:xfrm>
          <a:off x="0" y="0"/>
          <a:ext cx="0" cy="0"/>
          <a:chOff x="0" y="0"/>
          <a:chExt cx="0" cy="0"/>
        </a:xfrm>
      </p:grpSpPr>
      <p:sp>
        <p:nvSpPr>
          <p:cNvPr id="85" name="Google Shape;85;g3b13fd3ee94_0_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Key Contributions</a:t>
            </a:r>
            <a:endParaRPr sz="4000"/>
          </a:p>
        </p:txBody>
      </p:sp>
      <p:sp>
        <p:nvSpPr>
          <p:cNvPr id="86" name="Google Shape;86;g3b13fd3ee94_0_2"/>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00000"/>
                </a:solidFill>
                <a:latin typeface="Arial"/>
                <a:ea typeface="Arial"/>
                <a:cs typeface="Arial"/>
                <a:sym typeface="Arial"/>
              </a:rPr>
              <a:t>Robustness Framework:</a:t>
            </a:r>
            <a:r>
              <a:rPr lang="en" sz="1700">
                <a:solidFill>
                  <a:srgbClr val="000000"/>
                </a:solidFill>
                <a:latin typeface="Arial"/>
                <a:ea typeface="Arial"/>
                <a:cs typeface="Arial"/>
                <a:sym typeface="Arial"/>
              </a:rPr>
              <a:t> Introduces a systematic approach to evaluate LLM performance under realistic, human-like prompt variations.</a:t>
            </a:r>
            <a:endParaRPr sz="1700">
              <a:solidFill>
                <a:srgbClr val="000000"/>
              </a:solidFill>
              <a:latin typeface="Arial"/>
              <a:ea typeface="Arial"/>
              <a:cs typeface="Arial"/>
              <a:sym typeface="Arial"/>
            </a:endParaRPr>
          </a:p>
          <a:p>
            <a:pPr indent="0" lvl="0" marL="0" rtl="0" algn="l">
              <a:spcBef>
                <a:spcPts val="0"/>
              </a:spcBef>
              <a:spcAft>
                <a:spcPts val="0"/>
              </a:spcAft>
              <a:buNone/>
            </a:pPr>
            <a:r>
              <a:rPr b="1" lang="en" sz="1700">
                <a:solidFill>
                  <a:srgbClr val="000000"/>
                </a:solidFill>
                <a:latin typeface="Arial"/>
                <a:ea typeface="Arial"/>
                <a:cs typeface="Arial"/>
                <a:sym typeface="Arial"/>
              </a:rPr>
              <a:t>Red-Team/Blue-Team Paradigm:</a:t>
            </a:r>
            <a:r>
              <a:rPr lang="en" sz="1700">
                <a:solidFill>
                  <a:srgbClr val="000000"/>
                </a:solidFill>
                <a:latin typeface="Arial"/>
                <a:ea typeface="Arial"/>
                <a:cs typeface="Arial"/>
                <a:sym typeface="Arial"/>
              </a:rPr>
              <a:t> Utilizes a dual-testing strategy where a "Red Team" generates naturalistic perturbations while a "Blue Team" measures response stability.</a:t>
            </a:r>
            <a:endParaRPr sz="1700">
              <a:solidFill>
                <a:srgbClr val="000000"/>
              </a:solidFill>
              <a:latin typeface="Arial"/>
              <a:ea typeface="Arial"/>
              <a:cs typeface="Arial"/>
              <a:sym typeface="Arial"/>
            </a:endParaRPr>
          </a:p>
          <a:p>
            <a:pPr indent="0" lvl="0" marL="0" rtl="0" algn="l">
              <a:spcBef>
                <a:spcPts val="0"/>
              </a:spcBef>
              <a:spcAft>
                <a:spcPts val="0"/>
              </a:spcAft>
              <a:buNone/>
            </a:pPr>
            <a:r>
              <a:rPr b="1" lang="en" sz="1700">
                <a:solidFill>
                  <a:srgbClr val="000000"/>
                </a:solidFill>
                <a:latin typeface="Arial"/>
                <a:ea typeface="Arial"/>
                <a:cs typeface="Arial"/>
                <a:sym typeface="Arial"/>
              </a:rPr>
              <a:t>Standardized Comparative Study:</a:t>
            </a:r>
            <a:r>
              <a:rPr lang="en" sz="1700">
                <a:solidFill>
                  <a:srgbClr val="000000"/>
                </a:solidFill>
                <a:latin typeface="Arial"/>
                <a:ea typeface="Arial"/>
                <a:cs typeface="Arial"/>
                <a:sym typeface="Arial"/>
              </a:rPr>
              <a:t> Evaluates five prominent open-source LLMs under identical experimental conditions to ensure a fair and rigorous comparison.</a:t>
            </a:r>
            <a:endParaRPr sz="1700">
              <a:solidFill>
                <a:srgbClr val="000000"/>
              </a:solidFill>
              <a:latin typeface="Arial"/>
              <a:ea typeface="Arial"/>
              <a:cs typeface="Arial"/>
              <a:sym typeface="Arial"/>
            </a:endParaRPr>
          </a:p>
          <a:p>
            <a:pPr indent="0" lvl="0" marL="0" rtl="0" algn="l">
              <a:spcBef>
                <a:spcPts val="0"/>
              </a:spcBef>
              <a:spcAft>
                <a:spcPts val="0"/>
              </a:spcAft>
              <a:buNone/>
            </a:pPr>
            <a:r>
              <a:rPr b="1" lang="en" sz="1700">
                <a:solidFill>
                  <a:srgbClr val="000000"/>
                </a:solidFill>
                <a:latin typeface="Arial"/>
                <a:ea typeface="Arial"/>
                <a:cs typeface="Arial"/>
                <a:sym typeface="Arial"/>
              </a:rPr>
              <a:t>Quantitative Stability Metrics:</a:t>
            </a:r>
            <a:r>
              <a:rPr lang="en" sz="1700">
                <a:solidFill>
                  <a:srgbClr val="000000"/>
                </a:solidFill>
                <a:latin typeface="Arial"/>
                <a:ea typeface="Arial"/>
                <a:cs typeface="Arial"/>
                <a:sym typeface="Arial"/>
              </a:rPr>
              <a:t> Employs BERTScore-F1 to conduct semantic-level analysis, comparing perturbed responses against original, baseline outputs.</a:t>
            </a:r>
            <a:endParaRPr sz="1700">
              <a:solidFill>
                <a:srgbClr val="000000"/>
              </a:solidFill>
              <a:latin typeface="Arial"/>
              <a:ea typeface="Arial"/>
              <a:cs typeface="Arial"/>
              <a:sym typeface="Arial"/>
            </a:endParaRPr>
          </a:p>
          <a:p>
            <a:pPr indent="0" lvl="0" marL="0" rtl="0" algn="l">
              <a:spcBef>
                <a:spcPts val="0"/>
              </a:spcBef>
              <a:spcAft>
                <a:spcPts val="0"/>
              </a:spcAft>
              <a:buNone/>
            </a:pPr>
            <a:r>
              <a:t/>
            </a:r>
            <a:endParaRPr sz="17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90" name="Shape 90"/>
        <p:cNvGrpSpPr/>
        <p:nvPr/>
      </p:nvGrpSpPr>
      <p:grpSpPr>
        <a:xfrm>
          <a:off x="0" y="0"/>
          <a:ext cx="0" cy="0"/>
          <a:chOff x="0" y="0"/>
          <a:chExt cx="0" cy="0"/>
        </a:xfrm>
      </p:grpSpPr>
      <p:sp>
        <p:nvSpPr>
          <p:cNvPr id="91" name="Google Shape;91;g3b13fd3ee94_0_2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Background and Related Work</a:t>
            </a:r>
            <a:endParaRPr sz="4000"/>
          </a:p>
        </p:txBody>
      </p:sp>
      <p:sp>
        <p:nvSpPr>
          <p:cNvPr id="92" name="Google Shape;92;g3b13fd3ee94_0_21"/>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solidFill>
                  <a:srgbClr val="000000"/>
                </a:solidFill>
              </a:rPr>
              <a:t>Prior studies show that LLM outputs are highly sensitive to prompt structure, including instruction order, formatting, and context placement. Parallel work on adversarial robustness, such as PromptRobust and ADV-LLM, demonstrates how small input changes can severely disrupt model behavior. However, existing research largely focuses on adversarial or template-based prompts, whereas our work examines benign, human-like prompt perturbations that better reflect real-world usage.</a:t>
            </a:r>
            <a:endParaRPr>
              <a:solidFill>
                <a:srgbClr val="000000"/>
              </a:solidFill>
            </a:endParaRPr>
          </a:p>
          <a:p>
            <a:pPr indent="0" lvl="0" marL="0" rtl="0" algn="l">
              <a:spcBef>
                <a:spcPts val="1200"/>
              </a:spcBef>
              <a:spcAft>
                <a:spcPts val="0"/>
              </a:spcAft>
              <a:buNone/>
            </a:pPr>
            <a:r>
              <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96" name="Shape 96"/>
        <p:cNvGrpSpPr/>
        <p:nvPr/>
      </p:nvGrpSpPr>
      <p:grpSpPr>
        <a:xfrm>
          <a:off x="0" y="0"/>
          <a:ext cx="0" cy="0"/>
          <a:chOff x="0" y="0"/>
          <a:chExt cx="0" cy="0"/>
        </a:xfrm>
      </p:grpSpPr>
      <p:sp>
        <p:nvSpPr>
          <p:cNvPr id="97" name="Google Shape;97;g3b13fd3ee94_0_2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Methodology</a:t>
            </a:r>
            <a:endParaRPr sz="4000"/>
          </a:p>
        </p:txBody>
      </p:sp>
      <p:sp>
        <p:nvSpPr>
          <p:cNvPr id="98" name="Google Shape;98;g3b13fd3ee94_0_2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We curate a diverse prompt corpus sourced from publicly available datasets on HuggingFace and GitHub to represent realistic user inputs. Our evaluation framework consists of two complementary variants: </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Severity-based analysis that studies the effect of increasing perturbation intensity, and </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Perturbation-type analysis that isolates the impact of individual perturbation strategies. </a:t>
            </a:r>
            <a:endParaRPr>
              <a:solidFill>
                <a:srgbClr val="000000"/>
              </a:solidFill>
            </a:endParaRPr>
          </a:p>
          <a:p>
            <a:pPr indent="0" lvl="0" marL="0" rtl="0" algn="l">
              <a:spcBef>
                <a:spcPts val="0"/>
              </a:spcBef>
              <a:spcAft>
                <a:spcPts val="0"/>
              </a:spcAft>
              <a:buNone/>
            </a:pPr>
            <a:r>
              <a:rPr lang="en">
                <a:solidFill>
                  <a:srgbClr val="000000"/>
                </a:solidFill>
              </a:rPr>
              <a:t>All prompt variants are evaluated using identical inputs across models to ensure controlled and fair comparison.</a:t>
            </a:r>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02" name="Shape 102"/>
        <p:cNvGrpSpPr/>
        <p:nvPr/>
      </p:nvGrpSpPr>
      <p:grpSpPr>
        <a:xfrm>
          <a:off x="0" y="0"/>
          <a:ext cx="0" cy="0"/>
          <a:chOff x="0" y="0"/>
          <a:chExt cx="0" cy="0"/>
        </a:xfrm>
      </p:grpSpPr>
      <p:sp>
        <p:nvSpPr>
          <p:cNvPr id="103" name="Google Shape;103;g3b13fd3ee94_0_3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Evaluated Models and Scale</a:t>
            </a:r>
            <a:endParaRPr sz="4000"/>
          </a:p>
        </p:txBody>
      </p:sp>
      <p:sp>
        <p:nvSpPr>
          <p:cNvPr id="104" name="Google Shape;104;g3b13fd3ee94_0_31"/>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Our evaluation includes five widely used open-source Large Language Models—Llama 3.2, Qwen 2, Gemma, Mistral, and Phi 3—covering a range of architectures and training strategies. Each model is evaluated on 4,420 prompt–response pairs generated under identical conditions, resulting in a total of 22,100 evaluations across all models, enabling a comprehensive and fair robustness comparison.</a:t>
            </a:r>
            <a:endParaRPr>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08" name="Shape 108"/>
        <p:cNvGrpSpPr/>
        <p:nvPr/>
      </p:nvGrpSpPr>
      <p:grpSpPr>
        <a:xfrm>
          <a:off x="0" y="0"/>
          <a:ext cx="0" cy="0"/>
          <a:chOff x="0" y="0"/>
          <a:chExt cx="0" cy="0"/>
        </a:xfrm>
      </p:grpSpPr>
      <p:sp>
        <p:nvSpPr>
          <p:cNvPr id="109" name="Google Shape;109;g3b13fd3ee94_0_36"/>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Prompt Corpus Structure</a:t>
            </a:r>
            <a:endParaRPr sz="4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9F9"/>
        </a:solidFill>
      </p:bgPr>
    </p:bg>
    <p:spTree>
      <p:nvGrpSpPr>
        <p:cNvPr id="113" name="Shape 113"/>
        <p:cNvGrpSpPr/>
        <p:nvPr/>
      </p:nvGrpSpPr>
      <p:grpSpPr>
        <a:xfrm>
          <a:off x="0" y="0"/>
          <a:ext cx="0" cy="0"/>
          <a:chOff x="0" y="0"/>
          <a:chExt cx="0" cy="0"/>
        </a:xfrm>
      </p:grpSpPr>
      <p:pic>
        <p:nvPicPr>
          <p:cNvPr id="114" name="Google Shape;114;g3b13fd3ee94_3_35" title="prompt_format.jpg"/>
          <p:cNvPicPr preferRelativeResize="0"/>
          <p:nvPr/>
        </p:nvPicPr>
        <p:blipFill>
          <a:blip r:embed="rId3">
            <a:alphaModFix/>
          </a:blip>
          <a:stretch>
            <a:fillRect/>
          </a:stretch>
        </p:blipFill>
        <p:spPr>
          <a:xfrm>
            <a:off x="152400" y="152400"/>
            <a:ext cx="3526511" cy="4838701"/>
          </a:xfrm>
          <a:prstGeom prst="rect">
            <a:avLst/>
          </a:prstGeom>
          <a:noFill/>
          <a:ln cap="flat" cmpd="sng" w="9525">
            <a:solidFill>
              <a:srgbClr val="FF6000"/>
            </a:solidFill>
            <a:prstDash val="solid"/>
            <a:round/>
            <a:headEnd len="sm" w="sm" type="none"/>
            <a:tailEnd len="sm" w="sm" type="none"/>
          </a:ln>
        </p:spPr>
      </p:pic>
      <p:sp>
        <p:nvSpPr>
          <p:cNvPr id="115" name="Google Shape;115;g3b13fd3ee94_3_35"/>
          <p:cNvSpPr txBox="1"/>
          <p:nvPr/>
        </p:nvSpPr>
        <p:spPr>
          <a:xfrm>
            <a:off x="4306750" y="315600"/>
            <a:ext cx="3889800" cy="451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700">
                <a:latin typeface="Roboto"/>
                <a:ea typeface="Roboto"/>
                <a:cs typeface="Roboto"/>
                <a:sym typeface="Roboto"/>
              </a:rPr>
              <a:t>Each entry in the prompt corpus is structured to support systematic analysis, consisting of a base prompt, the corresponding unperturbed model response, a perturbed version of the prompt, and the resulting perturbed response. Additional perturbation metadata is recorded to capture the type and severity of each modification. This standardized structure enables reproducible experiments and consistent robustness evaluation across models.</a:t>
            </a:r>
            <a:endParaRPr sz="1700">
              <a:latin typeface="Roboto"/>
              <a:ea typeface="Roboto"/>
              <a:cs typeface="Roboto"/>
              <a:sym typeface="Roboto"/>
            </a:endParaRPr>
          </a:p>
          <a:p>
            <a:pPr indent="0" lvl="0" marL="0" rtl="0" algn="l">
              <a:lnSpc>
                <a:spcPct val="115000"/>
              </a:lnSpc>
              <a:spcBef>
                <a:spcPts val="1200"/>
              </a:spcBef>
              <a:spcAft>
                <a:spcPts val="0"/>
              </a:spcAft>
              <a:buNone/>
            </a:pPr>
            <a:r>
              <a:t/>
            </a:r>
            <a:endParaRPr sz="17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19" name="Shape 119"/>
        <p:cNvGrpSpPr/>
        <p:nvPr/>
      </p:nvGrpSpPr>
      <p:grpSpPr>
        <a:xfrm>
          <a:off x="0" y="0"/>
          <a:ext cx="0" cy="0"/>
          <a:chOff x="0" y="0"/>
          <a:chExt cx="0" cy="0"/>
        </a:xfrm>
      </p:grpSpPr>
      <p:sp>
        <p:nvSpPr>
          <p:cNvPr id="120" name="Google Shape;120;g3b13fd3ee94_0_4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Perturbation Categories</a:t>
            </a:r>
            <a:endParaRPr sz="4000"/>
          </a:p>
        </p:txBody>
      </p:sp>
      <p:sp>
        <p:nvSpPr>
          <p:cNvPr id="121" name="Google Shape;121;g3b13fd3ee94_0_41"/>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b="1" lang="en">
                <a:solidFill>
                  <a:srgbClr val="000000"/>
                </a:solidFill>
              </a:rPr>
              <a:t>Character-level perturbations</a:t>
            </a:r>
            <a:r>
              <a:rPr lang="en">
                <a:solidFill>
                  <a:srgbClr val="000000"/>
                </a:solidFill>
              </a:rPr>
              <a:t> introduce typographical errors </a:t>
            </a:r>
            <a:endParaRPr>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rPr>
              <a:t>Word-level perturbations</a:t>
            </a:r>
            <a:r>
              <a:rPr lang="en">
                <a:solidFill>
                  <a:srgbClr val="000000"/>
                </a:solidFill>
              </a:rPr>
              <a:t> replace terms with semantically similar alternatives </a:t>
            </a:r>
            <a:endParaRPr>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rPr>
              <a:t>Structural-level perturbations</a:t>
            </a:r>
            <a:r>
              <a:rPr lang="en">
                <a:solidFill>
                  <a:srgbClr val="000000"/>
                </a:solidFill>
              </a:rPr>
              <a:t> modify sentence or phrase ordering</a:t>
            </a:r>
            <a:endParaRPr>
              <a:solidFill>
                <a:srgbClr val="000000"/>
              </a:solidFill>
            </a:endParaRPr>
          </a:p>
          <a:p>
            <a:pPr indent="-342900" lvl="0" marL="457200" rtl="0" algn="l">
              <a:spcBef>
                <a:spcPts val="0"/>
              </a:spcBef>
              <a:spcAft>
                <a:spcPts val="0"/>
              </a:spcAft>
              <a:buClr>
                <a:srgbClr val="000000"/>
              </a:buClr>
              <a:buSzPts val="1800"/>
              <a:buChar char="●"/>
            </a:pPr>
            <a:r>
              <a:rPr b="1" lang="en">
                <a:solidFill>
                  <a:srgbClr val="000000"/>
                </a:solidFill>
              </a:rPr>
              <a:t>Lexical and formatting-level perturbations</a:t>
            </a:r>
            <a:r>
              <a:rPr lang="en">
                <a:solidFill>
                  <a:srgbClr val="000000"/>
                </a:solidFill>
              </a:rPr>
              <a:t> alter casing, spacing, or punctuation. </a:t>
            </a:r>
            <a:endParaRPr>
              <a:solidFill>
                <a:srgbClr val="000000"/>
              </a:solidFill>
            </a:endParaRPr>
          </a:p>
          <a:p>
            <a:pPr indent="0" lvl="0" marL="0" rtl="0" algn="l">
              <a:spcBef>
                <a:spcPts val="0"/>
              </a:spcBef>
              <a:spcAft>
                <a:spcPts val="0"/>
              </a:spcAft>
              <a:buNone/>
            </a:pPr>
            <a:r>
              <a:rPr lang="en">
                <a:solidFill>
                  <a:srgbClr val="000000"/>
                </a:solidFill>
              </a:rPr>
              <a:t>Together, these perturbations are designed to closely mimic natural, non-malicious variations in human-authored prompts.</a:t>
            </a:r>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25" name="Shape 125"/>
        <p:cNvGrpSpPr/>
        <p:nvPr/>
      </p:nvGrpSpPr>
      <p:grpSpPr>
        <a:xfrm>
          <a:off x="0" y="0"/>
          <a:ext cx="0" cy="0"/>
          <a:chOff x="0" y="0"/>
          <a:chExt cx="0" cy="0"/>
        </a:xfrm>
      </p:grpSpPr>
      <p:sp>
        <p:nvSpPr>
          <p:cNvPr id="126" name="Google Shape;126;g3b13fd3ee94_0_4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WordBug</a:t>
            </a:r>
            <a:endParaRPr sz="4000"/>
          </a:p>
        </p:txBody>
      </p:sp>
      <p:sp>
        <p:nvSpPr>
          <p:cNvPr id="127" name="Google Shape;127;g3b13fd3ee94_0_4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WordBug introduces character-level perturbations by performing random character deletions, insertions, replacements, and swaps within words, effectively simulating common typographical errors made by users. The intensity of perturbation is controlled through a configurable ratio that determines the proportion of modified words. This approach evaluates a model’s tolerance to spelling noise and its ability to preserve semantic intent under low-level input corruption.</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31" name="Shape 131"/>
        <p:cNvGrpSpPr/>
        <p:nvPr/>
      </p:nvGrpSpPr>
      <p:grpSpPr>
        <a:xfrm>
          <a:off x="0" y="0"/>
          <a:ext cx="0" cy="0"/>
          <a:chOff x="0" y="0"/>
          <a:chExt cx="0" cy="0"/>
        </a:xfrm>
      </p:grpSpPr>
      <p:sp>
        <p:nvSpPr>
          <p:cNvPr id="132" name="Google Shape;132;g3b13fd3ee94_0_5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TextFooler</a:t>
            </a:r>
            <a:endParaRPr sz="4000"/>
          </a:p>
        </p:txBody>
      </p:sp>
      <p:sp>
        <p:nvSpPr>
          <p:cNvPr id="133" name="Google Shape;133;g3b13fd3ee94_0_51"/>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solidFill>
                  <a:srgbClr val="000000"/>
                </a:solidFill>
              </a:rPr>
              <a:t>TextFooler applies word-level perturbations by replacing selected terms with their synonyms sourced from WordNet, while preserving the overall semantic meaning of the prompt. The number of substitutions is carefully controlled to avoid excessive distortion of intent. This perturbation tests whether LLMs rely on true semantic understanding or are overly sensitive to specific word choices and phrasing.</a:t>
            </a:r>
            <a:endParaRPr>
              <a:solidFill>
                <a:srgbClr val="000000"/>
              </a:solidFill>
            </a:endParaRPr>
          </a:p>
          <a:p>
            <a:pPr indent="0" lvl="0" marL="0" rtl="0" algn="l">
              <a:spcBef>
                <a:spcPts val="1200"/>
              </a:spcBef>
              <a:spcAft>
                <a:spcPts val="0"/>
              </a:spcAft>
              <a:buNone/>
            </a:pPr>
            <a:r>
              <a:t/>
            </a:r>
            <a:endParaRPr>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37" name="Shape 137"/>
        <p:cNvGrpSpPr/>
        <p:nvPr/>
      </p:nvGrpSpPr>
      <p:grpSpPr>
        <a:xfrm>
          <a:off x="0" y="0"/>
          <a:ext cx="0" cy="0"/>
          <a:chOff x="0" y="0"/>
          <a:chExt cx="0" cy="0"/>
        </a:xfrm>
      </p:grpSpPr>
      <p:sp>
        <p:nvSpPr>
          <p:cNvPr id="138" name="Google Shape;138;g3b13fd3ee94_0_5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Structural and Formatting Perturbations</a:t>
            </a:r>
            <a:endParaRPr sz="4000"/>
          </a:p>
        </p:txBody>
      </p:sp>
      <p:sp>
        <p:nvSpPr>
          <p:cNvPr id="139" name="Google Shape;139;g3b13fd3ee94_0_5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Structural and formatting perturbations modify the organization and visual presentation of prompts without substantially altering their meaning. These include random phrase or sentence shuffling, stopword removal or insertion, and random casing changes. Such transformations evaluate a model’s sensitivity to syntactic structure and visual formatting cues rather than semantic content.</a:t>
            </a:r>
            <a:endParaRPr>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43" name="Shape 143"/>
        <p:cNvGrpSpPr/>
        <p:nvPr/>
      </p:nvGrpSpPr>
      <p:grpSpPr>
        <a:xfrm>
          <a:off x="0" y="0"/>
          <a:ext cx="0" cy="0"/>
          <a:chOff x="0" y="0"/>
          <a:chExt cx="0" cy="0"/>
        </a:xfrm>
      </p:grpSpPr>
      <p:sp>
        <p:nvSpPr>
          <p:cNvPr id="144" name="Google Shape;144;g3b13fd3ee94_0_6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Evaluation Pipeline</a:t>
            </a:r>
            <a:endParaRPr sz="4000"/>
          </a:p>
        </p:txBody>
      </p:sp>
      <p:grpSp>
        <p:nvGrpSpPr>
          <p:cNvPr id="145" name="Google Shape;145;g3b13fd3ee94_0_61"/>
          <p:cNvGrpSpPr/>
          <p:nvPr/>
        </p:nvGrpSpPr>
        <p:grpSpPr>
          <a:xfrm>
            <a:off x="779175" y="2149025"/>
            <a:ext cx="2038500" cy="1064740"/>
            <a:chOff x="779175" y="2149025"/>
            <a:chExt cx="2038500" cy="1064740"/>
          </a:xfrm>
        </p:grpSpPr>
        <p:sp>
          <p:nvSpPr>
            <p:cNvPr id="146" name="Google Shape;146;g3b13fd3ee94_0_61"/>
            <p:cNvSpPr/>
            <p:nvPr/>
          </p:nvSpPr>
          <p:spPr>
            <a:xfrm>
              <a:off x="902781" y="3080265"/>
              <a:ext cx="1534500" cy="133500"/>
            </a:xfrm>
            <a:prstGeom prst="rect">
              <a:avLst/>
            </a:prstGeom>
            <a:solidFill>
              <a:srgbClr val="D83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 name="Google Shape;147;g3b13fd3ee94_0_61"/>
            <p:cNvGrpSpPr/>
            <p:nvPr/>
          </p:nvGrpSpPr>
          <p:grpSpPr>
            <a:xfrm>
              <a:off x="851208" y="2800855"/>
              <a:ext cx="92400" cy="411825"/>
              <a:chOff x="845575" y="2563700"/>
              <a:chExt cx="92400" cy="411825"/>
            </a:xfrm>
          </p:grpSpPr>
          <p:cxnSp>
            <p:nvCxnSpPr>
              <p:cNvPr id="148" name="Google Shape;148;g3b13fd3ee94_0_61"/>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49" name="Google Shape;149;g3b13fd3ee94_0_61"/>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g3b13fd3ee94_0_61"/>
            <p:cNvSpPr txBox="1"/>
            <p:nvPr/>
          </p:nvSpPr>
          <p:spPr>
            <a:xfrm>
              <a:off x="779175" y="2149025"/>
              <a:ext cx="20385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500">
                  <a:latin typeface="Roboto"/>
                  <a:ea typeface="Roboto"/>
                  <a:cs typeface="Roboto"/>
                  <a:sym typeface="Roboto"/>
                </a:rPr>
                <a:t>Generate perturbed prompts</a:t>
              </a:r>
              <a:endParaRPr b="1" sz="1500">
                <a:latin typeface="Roboto"/>
                <a:ea typeface="Roboto"/>
                <a:cs typeface="Roboto"/>
                <a:sym typeface="Roboto"/>
              </a:endParaRPr>
            </a:p>
          </p:txBody>
        </p:sp>
      </p:grpSp>
      <p:grpSp>
        <p:nvGrpSpPr>
          <p:cNvPr id="151" name="Google Shape;151;g3b13fd3ee94_0_61"/>
          <p:cNvGrpSpPr/>
          <p:nvPr/>
        </p:nvGrpSpPr>
        <p:grpSpPr>
          <a:xfrm>
            <a:off x="2323952" y="3080258"/>
            <a:ext cx="1781700" cy="1355628"/>
            <a:chOff x="2323952" y="3080258"/>
            <a:chExt cx="1781700" cy="1355628"/>
          </a:xfrm>
        </p:grpSpPr>
        <p:sp>
          <p:nvSpPr>
            <p:cNvPr id="152" name="Google Shape;152;g3b13fd3ee94_0_61"/>
            <p:cNvSpPr/>
            <p:nvPr/>
          </p:nvSpPr>
          <p:spPr>
            <a:xfrm>
              <a:off x="2437281" y="3080265"/>
              <a:ext cx="1534500" cy="133500"/>
            </a:xfrm>
            <a:prstGeom prst="rect">
              <a:avLst/>
            </a:prstGeom>
            <a:solidFill>
              <a:srgbClr val="801F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b13fd3ee94_0_61"/>
            <p:cNvSpPr txBox="1"/>
            <p:nvPr/>
          </p:nvSpPr>
          <p:spPr>
            <a:xfrm>
              <a:off x="2323952" y="3492086"/>
              <a:ext cx="17817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Roboto"/>
                  <a:ea typeface="Roboto"/>
                  <a:cs typeface="Roboto"/>
                  <a:sym typeface="Roboto"/>
                </a:rPr>
                <a:t>Query LLMs</a:t>
              </a:r>
              <a:endParaRPr b="1" sz="1500">
                <a:latin typeface="Roboto"/>
                <a:ea typeface="Roboto"/>
                <a:cs typeface="Roboto"/>
                <a:sym typeface="Roboto"/>
              </a:endParaRPr>
            </a:p>
            <a:p>
              <a:pPr indent="0" lvl="0" marL="0" rtl="0" algn="l">
                <a:spcBef>
                  <a:spcPts val="1600"/>
                </a:spcBef>
                <a:spcAft>
                  <a:spcPts val="1600"/>
                </a:spcAft>
                <a:buNone/>
              </a:pPr>
              <a:r>
                <a:t/>
              </a:r>
              <a:endParaRPr b="1" sz="800">
                <a:latin typeface="Roboto"/>
                <a:ea typeface="Roboto"/>
                <a:cs typeface="Roboto"/>
                <a:sym typeface="Roboto"/>
              </a:endParaRPr>
            </a:p>
          </p:txBody>
        </p:sp>
        <p:grpSp>
          <p:nvGrpSpPr>
            <p:cNvPr id="154" name="Google Shape;154;g3b13fd3ee94_0_61"/>
            <p:cNvGrpSpPr/>
            <p:nvPr/>
          </p:nvGrpSpPr>
          <p:grpSpPr>
            <a:xfrm rot="10800000">
              <a:off x="2395183" y="3080258"/>
              <a:ext cx="92400" cy="411825"/>
              <a:chOff x="2070100" y="2563700"/>
              <a:chExt cx="92400" cy="411825"/>
            </a:xfrm>
          </p:grpSpPr>
          <p:cxnSp>
            <p:nvCxnSpPr>
              <p:cNvPr id="155" name="Google Shape;155;g3b13fd3ee94_0_61"/>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56" name="Google Shape;156;g3b13fd3ee94_0_61"/>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7" name="Google Shape;157;g3b13fd3ee94_0_61"/>
          <p:cNvGrpSpPr/>
          <p:nvPr/>
        </p:nvGrpSpPr>
        <p:grpSpPr>
          <a:xfrm>
            <a:off x="3870750" y="1821450"/>
            <a:ext cx="2038500" cy="1392315"/>
            <a:chOff x="3870750" y="1821450"/>
            <a:chExt cx="2038500" cy="1392315"/>
          </a:xfrm>
        </p:grpSpPr>
        <p:sp>
          <p:nvSpPr>
            <p:cNvPr id="158" name="Google Shape;158;g3b13fd3ee94_0_61"/>
            <p:cNvSpPr/>
            <p:nvPr/>
          </p:nvSpPr>
          <p:spPr>
            <a:xfrm>
              <a:off x="3971778" y="3080265"/>
              <a:ext cx="1534500" cy="133500"/>
            </a:xfrm>
            <a:prstGeom prst="rect">
              <a:avLst/>
            </a:prstGeom>
            <a:solidFill>
              <a:srgbClr val="D83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 name="Google Shape;159;g3b13fd3ee94_0_61"/>
            <p:cNvGrpSpPr/>
            <p:nvPr/>
          </p:nvGrpSpPr>
          <p:grpSpPr>
            <a:xfrm>
              <a:off x="3924544" y="2800855"/>
              <a:ext cx="92400" cy="411825"/>
              <a:chOff x="845575" y="2563700"/>
              <a:chExt cx="92400" cy="411825"/>
            </a:xfrm>
          </p:grpSpPr>
          <p:cxnSp>
            <p:nvCxnSpPr>
              <p:cNvPr id="160" name="Google Shape;160;g3b13fd3ee94_0_61"/>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61" name="Google Shape;161;g3b13fd3ee94_0_61"/>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g3b13fd3ee94_0_61"/>
            <p:cNvSpPr txBox="1"/>
            <p:nvPr/>
          </p:nvSpPr>
          <p:spPr>
            <a:xfrm>
              <a:off x="3870750" y="1821450"/>
              <a:ext cx="20385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Roboto"/>
                  <a:ea typeface="Roboto"/>
                  <a:cs typeface="Roboto"/>
                  <a:sym typeface="Roboto"/>
                </a:rPr>
                <a:t>Collect unperturbed &amp; perturbed responses </a:t>
              </a:r>
              <a:endParaRPr b="1" sz="1500">
                <a:latin typeface="Roboto"/>
                <a:ea typeface="Roboto"/>
                <a:cs typeface="Roboto"/>
                <a:sym typeface="Roboto"/>
              </a:endParaRPr>
            </a:p>
            <a:p>
              <a:pPr indent="0" lvl="0" marL="0" rtl="0" algn="l">
                <a:spcBef>
                  <a:spcPts val="1600"/>
                </a:spcBef>
                <a:spcAft>
                  <a:spcPts val="1600"/>
                </a:spcAft>
                <a:buNone/>
              </a:pPr>
              <a:r>
                <a:t/>
              </a:r>
              <a:endParaRPr b="1" sz="800">
                <a:latin typeface="Roboto"/>
                <a:ea typeface="Roboto"/>
                <a:cs typeface="Roboto"/>
                <a:sym typeface="Roboto"/>
              </a:endParaRPr>
            </a:p>
          </p:txBody>
        </p:sp>
      </p:grpSp>
      <p:grpSp>
        <p:nvGrpSpPr>
          <p:cNvPr id="163" name="Google Shape;163;g3b13fd3ee94_0_61"/>
          <p:cNvGrpSpPr/>
          <p:nvPr/>
        </p:nvGrpSpPr>
        <p:grpSpPr>
          <a:xfrm>
            <a:off x="5337948" y="3079933"/>
            <a:ext cx="1781700" cy="1356253"/>
            <a:chOff x="5370448" y="3080258"/>
            <a:chExt cx="1781700" cy="1356253"/>
          </a:xfrm>
        </p:grpSpPr>
        <p:sp>
          <p:nvSpPr>
            <p:cNvPr id="164" name="Google Shape;164;g3b13fd3ee94_0_61"/>
            <p:cNvSpPr/>
            <p:nvPr/>
          </p:nvSpPr>
          <p:spPr>
            <a:xfrm>
              <a:off x="5506276" y="3080265"/>
              <a:ext cx="1534500" cy="133500"/>
            </a:xfrm>
            <a:prstGeom prst="rect">
              <a:avLst/>
            </a:prstGeom>
            <a:solidFill>
              <a:srgbClr val="801F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 name="Google Shape;165;g3b13fd3ee94_0_61"/>
            <p:cNvGrpSpPr/>
            <p:nvPr/>
          </p:nvGrpSpPr>
          <p:grpSpPr>
            <a:xfrm rot="10800000">
              <a:off x="5455515" y="3080258"/>
              <a:ext cx="92400" cy="411825"/>
              <a:chOff x="2070100" y="2563700"/>
              <a:chExt cx="92400" cy="411825"/>
            </a:xfrm>
          </p:grpSpPr>
          <p:cxnSp>
            <p:nvCxnSpPr>
              <p:cNvPr id="166" name="Google Shape;166;g3b13fd3ee94_0_61"/>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67" name="Google Shape;167;g3b13fd3ee94_0_61"/>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 name="Google Shape;168;g3b13fd3ee94_0_61"/>
            <p:cNvSpPr txBox="1"/>
            <p:nvPr/>
          </p:nvSpPr>
          <p:spPr>
            <a:xfrm>
              <a:off x="5370448" y="3492711"/>
              <a:ext cx="17817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Roboto"/>
                  <a:ea typeface="Roboto"/>
                  <a:cs typeface="Roboto"/>
                  <a:sym typeface="Roboto"/>
                </a:rPr>
                <a:t>Compare outputs using BERTScore-F1 </a:t>
              </a:r>
              <a:endParaRPr b="1" sz="1500">
                <a:latin typeface="Roboto"/>
                <a:ea typeface="Roboto"/>
                <a:cs typeface="Roboto"/>
                <a:sym typeface="Roboto"/>
              </a:endParaRPr>
            </a:p>
            <a:p>
              <a:pPr indent="0" lvl="0" marL="0" rtl="0" algn="l">
                <a:spcBef>
                  <a:spcPts val="1600"/>
                </a:spcBef>
                <a:spcAft>
                  <a:spcPts val="1600"/>
                </a:spcAft>
                <a:buNone/>
              </a:pPr>
              <a:r>
                <a:t/>
              </a:r>
              <a:endParaRPr b="1" sz="800">
                <a:latin typeface="Roboto"/>
                <a:ea typeface="Roboto"/>
                <a:cs typeface="Roboto"/>
                <a:sym typeface="Roboto"/>
              </a:endParaRPr>
            </a:p>
          </p:txBody>
        </p:sp>
      </p:grpSp>
      <p:sp>
        <p:nvSpPr>
          <p:cNvPr id="169" name="Google Shape;169;g3b13fd3ee94_0_61"/>
          <p:cNvSpPr/>
          <p:nvPr/>
        </p:nvSpPr>
        <p:spPr>
          <a:xfrm>
            <a:off x="7004553" y="3079915"/>
            <a:ext cx="1534500" cy="133500"/>
          </a:xfrm>
          <a:prstGeom prst="rect">
            <a:avLst/>
          </a:prstGeom>
          <a:solidFill>
            <a:srgbClr val="D83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 name="Google Shape;170;g3b13fd3ee94_0_61"/>
          <p:cNvGrpSpPr/>
          <p:nvPr/>
        </p:nvGrpSpPr>
        <p:grpSpPr>
          <a:xfrm>
            <a:off x="6880947" y="1949450"/>
            <a:ext cx="1781700" cy="1264315"/>
            <a:chOff x="3870747" y="1949450"/>
            <a:chExt cx="1781700" cy="1264315"/>
          </a:xfrm>
        </p:grpSpPr>
        <p:sp>
          <p:nvSpPr>
            <p:cNvPr id="171" name="Google Shape;171;g3b13fd3ee94_0_61"/>
            <p:cNvSpPr/>
            <p:nvPr/>
          </p:nvSpPr>
          <p:spPr>
            <a:xfrm>
              <a:off x="3971778" y="3080265"/>
              <a:ext cx="1534500" cy="133500"/>
            </a:xfrm>
            <a:prstGeom prst="rect">
              <a:avLst/>
            </a:prstGeom>
            <a:solidFill>
              <a:srgbClr val="D83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 name="Google Shape;172;g3b13fd3ee94_0_61"/>
            <p:cNvGrpSpPr/>
            <p:nvPr/>
          </p:nvGrpSpPr>
          <p:grpSpPr>
            <a:xfrm>
              <a:off x="3924544" y="2800855"/>
              <a:ext cx="92400" cy="411825"/>
              <a:chOff x="845575" y="2563700"/>
              <a:chExt cx="92400" cy="411825"/>
            </a:xfrm>
          </p:grpSpPr>
          <p:cxnSp>
            <p:nvCxnSpPr>
              <p:cNvPr id="173" name="Google Shape;173;g3b13fd3ee94_0_61"/>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74" name="Google Shape;174;g3b13fd3ee94_0_61"/>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 name="Google Shape;175;g3b13fd3ee94_0_61"/>
            <p:cNvSpPr txBox="1"/>
            <p:nvPr/>
          </p:nvSpPr>
          <p:spPr>
            <a:xfrm>
              <a:off x="3870747" y="1949450"/>
              <a:ext cx="17817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Roboto"/>
                  <a:ea typeface="Roboto"/>
                  <a:cs typeface="Roboto"/>
                  <a:sym typeface="Roboto"/>
                </a:rPr>
                <a:t>Aggregate scores by type and severity</a:t>
              </a:r>
              <a:endParaRPr b="1" sz="1500">
                <a:latin typeface="Roboto"/>
                <a:ea typeface="Roboto"/>
                <a:cs typeface="Roboto"/>
                <a:sym typeface="Roboto"/>
              </a:endParaRPr>
            </a:p>
            <a:p>
              <a:pPr indent="0" lvl="0" marL="0" rtl="0" algn="l">
                <a:spcBef>
                  <a:spcPts val="1600"/>
                </a:spcBef>
                <a:spcAft>
                  <a:spcPts val="1600"/>
                </a:spcAft>
                <a:buNone/>
              </a:pPr>
              <a:r>
                <a:t/>
              </a:r>
              <a:endParaRPr b="1" sz="800">
                <a:latin typeface="Roboto"/>
                <a:ea typeface="Roboto"/>
                <a:cs typeface="Roboto"/>
                <a:sym typeface="Robo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79" name="Shape 179"/>
        <p:cNvGrpSpPr/>
        <p:nvPr/>
      </p:nvGrpSpPr>
      <p:grpSpPr>
        <a:xfrm>
          <a:off x="0" y="0"/>
          <a:ext cx="0" cy="0"/>
          <a:chOff x="0" y="0"/>
          <a:chExt cx="0" cy="0"/>
        </a:xfrm>
      </p:grpSpPr>
      <p:sp>
        <p:nvSpPr>
          <p:cNvPr id="180" name="Google Shape;180;g3b13d058b2f_0_37"/>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t>Pipeline</a:t>
            </a:r>
            <a:endParaRPr b="1" sz="2100"/>
          </a:p>
        </p:txBody>
      </p:sp>
      <p:pic>
        <p:nvPicPr>
          <p:cNvPr id="181" name="Google Shape;181;g3b13d058b2f_0_37" title="Pipeline.drawio.png"/>
          <p:cNvPicPr preferRelativeResize="0"/>
          <p:nvPr/>
        </p:nvPicPr>
        <p:blipFill>
          <a:blip r:embed="rId3">
            <a:alphaModFix/>
          </a:blip>
          <a:stretch>
            <a:fillRect/>
          </a:stretch>
        </p:blipFill>
        <p:spPr>
          <a:xfrm>
            <a:off x="152400" y="1653913"/>
            <a:ext cx="8839199" cy="1835680"/>
          </a:xfrm>
          <a:prstGeom prst="rect">
            <a:avLst/>
          </a:prstGeom>
          <a:noFill/>
          <a:ln cap="flat" cmpd="sng" w="9525">
            <a:solidFill>
              <a:srgbClr val="FF6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85" name="Shape 185"/>
        <p:cNvGrpSpPr/>
        <p:nvPr/>
      </p:nvGrpSpPr>
      <p:grpSpPr>
        <a:xfrm>
          <a:off x="0" y="0"/>
          <a:ext cx="0" cy="0"/>
          <a:chOff x="0" y="0"/>
          <a:chExt cx="0" cy="0"/>
        </a:xfrm>
      </p:grpSpPr>
      <p:sp>
        <p:nvSpPr>
          <p:cNvPr id="186" name="Google Shape;186;g3b13fd3ee94_0_6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Evaluation Metric</a:t>
            </a:r>
            <a:endParaRPr sz="4000"/>
          </a:p>
        </p:txBody>
      </p:sp>
      <p:sp>
        <p:nvSpPr>
          <p:cNvPr id="187" name="Google Shape;187;g3b13fd3ee94_0_6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BERTScore-F1 measures the semantic similarity between two text sequences using contextual embeddings from pretrained BERT models, providing a more robust assessment than traditional n-gram metrics like BLEU or ROUGE. In our evaluation, the reference is the model’s response to the unperturbed prompt, and the candidate is the response to the perturbed prompt. Lower BERTScore-F1 values indicate greater sensitivity to prompt variations, reflecting reduced robustness.</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91" name="Shape 191"/>
        <p:cNvGrpSpPr/>
        <p:nvPr/>
      </p:nvGrpSpPr>
      <p:grpSpPr>
        <a:xfrm>
          <a:off x="0" y="0"/>
          <a:ext cx="0" cy="0"/>
          <a:chOff x="0" y="0"/>
          <a:chExt cx="0" cy="0"/>
        </a:xfrm>
      </p:grpSpPr>
      <p:sp>
        <p:nvSpPr>
          <p:cNvPr id="192" name="Google Shape;192;g3b13fd3ee94_0_7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Results and Key Insights</a:t>
            </a:r>
            <a:endParaRPr sz="4000"/>
          </a:p>
        </p:txBody>
      </p:sp>
      <p:pic>
        <p:nvPicPr>
          <p:cNvPr id="193" name="Google Shape;193;g3b13fd3ee94_0_71"/>
          <p:cNvPicPr preferRelativeResize="0"/>
          <p:nvPr/>
        </p:nvPicPr>
        <p:blipFill>
          <a:blip r:embed="rId3">
            <a:alphaModFix/>
          </a:blip>
          <a:stretch>
            <a:fillRect/>
          </a:stretch>
        </p:blipFill>
        <p:spPr>
          <a:xfrm>
            <a:off x="96025" y="2017875"/>
            <a:ext cx="4403353" cy="2611400"/>
          </a:xfrm>
          <a:prstGeom prst="rect">
            <a:avLst/>
          </a:prstGeom>
          <a:noFill/>
          <a:ln cap="flat" cmpd="sng" w="9525">
            <a:solidFill>
              <a:srgbClr val="FF6000"/>
            </a:solidFill>
            <a:prstDash val="solid"/>
            <a:round/>
            <a:headEnd len="sm" w="sm" type="none"/>
            <a:tailEnd len="sm" w="sm" type="none"/>
          </a:ln>
        </p:spPr>
      </p:pic>
      <p:pic>
        <p:nvPicPr>
          <p:cNvPr id="194" name="Google Shape;194;g3b13fd3ee94_0_71"/>
          <p:cNvPicPr preferRelativeResize="0"/>
          <p:nvPr/>
        </p:nvPicPr>
        <p:blipFill>
          <a:blip r:embed="rId4">
            <a:alphaModFix/>
          </a:blip>
          <a:stretch>
            <a:fillRect/>
          </a:stretch>
        </p:blipFill>
        <p:spPr>
          <a:xfrm>
            <a:off x="4668200" y="2065475"/>
            <a:ext cx="4403350" cy="2516200"/>
          </a:xfrm>
          <a:prstGeom prst="rect">
            <a:avLst/>
          </a:prstGeom>
          <a:noFill/>
          <a:ln cap="flat" cmpd="sng" w="9525">
            <a:solidFill>
              <a:srgbClr val="FF6000"/>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198" name="Shape 198"/>
        <p:cNvGrpSpPr/>
        <p:nvPr/>
      </p:nvGrpSpPr>
      <p:grpSpPr>
        <a:xfrm>
          <a:off x="0" y="0"/>
          <a:ext cx="0" cy="0"/>
          <a:chOff x="0" y="0"/>
          <a:chExt cx="0" cy="0"/>
        </a:xfrm>
      </p:grpSpPr>
      <p:sp>
        <p:nvSpPr>
          <p:cNvPr id="199" name="Google Shape;199;g3b13d058b2f_0_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Results and Key Insights</a:t>
            </a:r>
            <a:endParaRPr sz="4000"/>
          </a:p>
        </p:txBody>
      </p:sp>
      <p:sp>
        <p:nvSpPr>
          <p:cNvPr id="200" name="Google Shape;200;g3b13d058b2f_0_15"/>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rPr>
              <a:t>Across all testing scenarios, Phi-3 consistently demonstrated the highest level of resilience, maintaining semantic stability (BERTScore-F1 &gt; 0.75) even as noise levels increased. In contrast, LLaMA 3.2 showed significant sensitivity to even minor changes, with its stability scores dropping to near 0.40. Models like Gemma, Mistral, and Qwen 2 occupied a middle tier, showing a steady but moderate decline in performance.</a:t>
            </a:r>
            <a:endParaRPr sz="1500">
              <a:solidFill>
                <a:srgbClr val="000000"/>
              </a:solidFill>
            </a:endParaRPr>
          </a:p>
          <a:p>
            <a:pPr indent="0" lvl="0" marL="0" rtl="0" algn="l">
              <a:spcBef>
                <a:spcPts val="0"/>
              </a:spcBef>
              <a:spcAft>
                <a:spcPts val="0"/>
              </a:spcAft>
              <a:buNone/>
            </a:pPr>
            <a:r>
              <a:rPr b="1" lang="en" sz="1500">
                <a:solidFill>
                  <a:srgbClr val="000000"/>
                </a:solidFill>
              </a:rPr>
              <a:t>Character vs. Word-Level Impact</a:t>
            </a:r>
            <a:endParaRPr b="1" sz="1500">
              <a:solidFill>
                <a:srgbClr val="000000"/>
              </a:solidFill>
            </a:endParaRPr>
          </a:p>
          <a:p>
            <a:pPr indent="0" lvl="0" marL="0" rtl="0" algn="l">
              <a:spcBef>
                <a:spcPts val="0"/>
              </a:spcBef>
              <a:spcAft>
                <a:spcPts val="0"/>
              </a:spcAft>
              <a:buNone/>
            </a:pPr>
            <a:r>
              <a:rPr lang="en" sz="1500">
                <a:solidFill>
                  <a:srgbClr val="000000"/>
                </a:solidFill>
              </a:rPr>
              <a:t>Results indicate that WordBug is generally less disruptive than word-level changes TextFooler. While models can often "see through" typographical errors, the use of synonym substitutions frequently alters the semantic surface of the prompt enough to shift the model's response. This suggests that lexical choice is a greater factor in output stability than simple spelling accuracy.</a:t>
            </a:r>
            <a:endParaRPr sz="15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9F9"/>
        </a:solidFill>
      </p:bgPr>
    </p:bg>
    <p:spTree>
      <p:nvGrpSpPr>
        <p:cNvPr id="204" name="Shape 204"/>
        <p:cNvGrpSpPr/>
        <p:nvPr/>
      </p:nvGrpSpPr>
      <p:grpSpPr>
        <a:xfrm>
          <a:off x="0" y="0"/>
          <a:ext cx="0" cy="0"/>
          <a:chOff x="0" y="0"/>
          <a:chExt cx="0" cy="0"/>
        </a:xfrm>
      </p:grpSpPr>
      <p:pic>
        <p:nvPicPr>
          <p:cNvPr id="205" name="Google Shape;205;g3b13fd3ee94_3_7" title="DIAGRAM1.drawio.png"/>
          <p:cNvPicPr preferRelativeResize="0"/>
          <p:nvPr/>
        </p:nvPicPr>
        <p:blipFill>
          <a:blip r:embed="rId3">
            <a:alphaModFix/>
          </a:blip>
          <a:stretch>
            <a:fillRect/>
          </a:stretch>
        </p:blipFill>
        <p:spPr>
          <a:xfrm>
            <a:off x="152400" y="900350"/>
            <a:ext cx="8839200" cy="4079141"/>
          </a:xfrm>
          <a:prstGeom prst="rect">
            <a:avLst/>
          </a:prstGeom>
          <a:noFill/>
          <a:ln cap="flat" cmpd="sng" w="9525">
            <a:solidFill>
              <a:srgbClr val="FF6000"/>
            </a:solidFill>
            <a:prstDash val="solid"/>
            <a:round/>
            <a:headEnd len="sm" w="sm" type="none"/>
            <a:tailEnd len="sm" w="sm" type="none"/>
          </a:ln>
        </p:spPr>
      </p:pic>
      <p:sp>
        <p:nvSpPr>
          <p:cNvPr id="206" name="Google Shape;206;g3b13fd3ee94_3_7"/>
          <p:cNvSpPr txBox="1"/>
          <p:nvPr/>
        </p:nvSpPr>
        <p:spPr>
          <a:xfrm>
            <a:off x="0" y="123900"/>
            <a:ext cx="8991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t>Figure 1: Model responses to elevating severity of TextFooler (Word level Perturbation) </a:t>
            </a:r>
            <a:endParaRPr sz="1500"/>
          </a:p>
          <a:p>
            <a:pPr indent="0" lvl="0" marL="0" rtl="0" algn="ctr">
              <a:spcBef>
                <a:spcPts val="0"/>
              </a:spcBef>
              <a:spcAft>
                <a:spcPts val="0"/>
              </a:spcAft>
              <a:buNone/>
            </a:pPr>
            <a:r>
              <a:rPr lang="en" sz="1500"/>
              <a:t>Figure 2: Model responses to WordBug (Character Level Perturbation)</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210" name="Shape 210"/>
        <p:cNvGrpSpPr/>
        <p:nvPr/>
      </p:nvGrpSpPr>
      <p:grpSpPr>
        <a:xfrm>
          <a:off x="0" y="0"/>
          <a:ext cx="0" cy="0"/>
          <a:chOff x="0" y="0"/>
          <a:chExt cx="0" cy="0"/>
        </a:xfrm>
      </p:grpSpPr>
      <p:sp>
        <p:nvSpPr>
          <p:cNvPr id="211" name="Google Shape;211;g3b13d058b2f_0_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Results and Key Insights</a:t>
            </a:r>
            <a:endParaRPr sz="4000"/>
          </a:p>
        </p:txBody>
      </p:sp>
      <p:pic>
        <p:nvPicPr>
          <p:cNvPr id="212" name="Google Shape;212;g3b13d058b2f_0_7"/>
          <p:cNvPicPr preferRelativeResize="0"/>
          <p:nvPr/>
        </p:nvPicPr>
        <p:blipFill>
          <a:blip r:embed="rId3">
            <a:alphaModFix/>
          </a:blip>
          <a:stretch>
            <a:fillRect/>
          </a:stretch>
        </p:blipFill>
        <p:spPr>
          <a:xfrm>
            <a:off x="1683869" y="1877075"/>
            <a:ext cx="5776269" cy="3107700"/>
          </a:xfrm>
          <a:prstGeom prst="rect">
            <a:avLst/>
          </a:prstGeom>
          <a:noFill/>
          <a:ln cap="flat" cmpd="sng" w="9525">
            <a:solidFill>
              <a:srgbClr val="FF6000"/>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216" name="Shape 216"/>
        <p:cNvGrpSpPr/>
        <p:nvPr/>
      </p:nvGrpSpPr>
      <p:grpSpPr>
        <a:xfrm>
          <a:off x="0" y="0"/>
          <a:ext cx="0" cy="0"/>
          <a:chOff x="0" y="0"/>
          <a:chExt cx="0" cy="0"/>
        </a:xfrm>
      </p:grpSpPr>
      <p:sp>
        <p:nvSpPr>
          <p:cNvPr id="217" name="Google Shape;217;g3b13d058b2f_0_2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Results and Key Insights</a:t>
            </a:r>
            <a:endParaRPr sz="4000"/>
          </a:p>
        </p:txBody>
      </p:sp>
      <p:sp>
        <p:nvSpPr>
          <p:cNvPr id="218" name="Google Shape;218;g3b13d058b2f_0_22"/>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000000"/>
                </a:solidFill>
              </a:rPr>
              <a:t>Major Disruptors to Output Stability</a:t>
            </a:r>
            <a:endParaRPr b="1" sz="1500">
              <a:solidFill>
                <a:srgbClr val="000000"/>
              </a:solidFill>
            </a:endParaRPr>
          </a:p>
          <a:p>
            <a:pPr indent="0" lvl="0" marL="0" rtl="0" algn="l">
              <a:spcBef>
                <a:spcPts val="0"/>
              </a:spcBef>
              <a:spcAft>
                <a:spcPts val="0"/>
              </a:spcAft>
              <a:buNone/>
            </a:pPr>
            <a:r>
              <a:rPr lang="en" sz="1500">
                <a:solidFill>
                  <a:srgbClr val="000000"/>
                </a:solidFill>
              </a:rPr>
              <a:t>The evaluation revealed that </a:t>
            </a:r>
            <a:r>
              <a:rPr b="1" lang="en" sz="1500">
                <a:solidFill>
                  <a:srgbClr val="000000"/>
                </a:solidFill>
              </a:rPr>
              <a:t>simulated paraphrasing and compound attacks </a:t>
            </a:r>
            <a:r>
              <a:rPr lang="en" sz="1500">
                <a:solidFill>
                  <a:srgbClr val="000000"/>
                </a:solidFill>
              </a:rPr>
              <a:t>(Combining WordBug and TextFooler)</a:t>
            </a:r>
            <a:r>
              <a:rPr b="1" lang="en" sz="1500">
                <a:solidFill>
                  <a:srgbClr val="000000"/>
                </a:solidFill>
              </a:rPr>
              <a:t> </a:t>
            </a:r>
            <a:r>
              <a:rPr lang="en" sz="1500">
                <a:solidFill>
                  <a:srgbClr val="000000"/>
                </a:solidFill>
              </a:rPr>
              <a:t>are the most disruptive to model performance. These high-coverage semantic changes cause the lowest stability scores across the board. This indicates that while LLMs can tolerate isolated errors, they struggle significantly when multiple layers of linguistic variation are introduced simultaneously.</a:t>
            </a:r>
            <a:endParaRPr sz="1500">
              <a:solidFill>
                <a:srgbClr val="000000"/>
              </a:solidFill>
            </a:endParaRPr>
          </a:p>
          <a:p>
            <a:pPr indent="0" lvl="0" marL="0" rtl="0" algn="l">
              <a:spcBef>
                <a:spcPts val="0"/>
              </a:spcBef>
              <a:spcAft>
                <a:spcPts val="0"/>
              </a:spcAft>
              <a:buNone/>
            </a:pPr>
            <a:r>
              <a:rPr b="1" lang="en" sz="1500">
                <a:solidFill>
                  <a:srgbClr val="000000"/>
                </a:solidFill>
              </a:rPr>
              <a:t>Resiliency to Surface-Level Noise</a:t>
            </a:r>
            <a:endParaRPr b="1" sz="1500">
              <a:solidFill>
                <a:srgbClr val="000000"/>
              </a:solidFill>
            </a:endParaRPr>
          </a:p>
          <a:p>
            <a:pPr indent="0" lvl="0" marL="0" rtl="0" algn="l">
              <a:spcBef>
                <a:spcPts val="0"/>
              </a:spcBef>
              <a:spcAft>
                <a:spcPts val="0"/>
              </a:spcAft>
              <a:buNone/>
            </a:pPr>
            <a:r>
              <a:rPr lang="en" sz="1500">
                <a:solidFill>
                  <a:srgbClr val="000000"/>
                </a:solidFill>
              </a:rPr>
              <a:t>All evaluated models showed strong robustness against surface-level transformations such as </a:t>
            </a:r>
            <a:r>
              <a:rPr b="1" lang="en" sz="1500">
                <a:solidFill>
                  <a:srgbClr val="000000"/>
                </a:solidFill>
              </a:rPr>
              <a:t>casing variations, punctuation injection, </a:t>
            </a:r>
            <a:r>
              <a:rPr lang="en" sz="1500">
                <a:solidFill>
                  <a:srgbClr val="000000"/>
                </a:solidFill>
              </a:rPr>
              <a:t>and </a:t>
            </a:r>
            <a:r>
              <a:rPr b="1" lang="en" sz="1500">
                <a:solidFill>
                  <a:srgbClr val="000000"/>
                </a:solidFill>
              </a:rPr>
              <a:t>homophones</a:t>
            </a:r>
            <a:r>
              <a:rPr lang="en" sz="1500">
                <a:solidFill>
                  <a:srgbClr val="000000"/>
                </a:solidFill>
              </a:rPr>
              <a:t>. These findings suggest that modern tokenization and training allow models to effectively ignore phonetic and formatting noise.</a:t>
            </a:r>
            <a:endParaRPr sz="15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9F9"/>
        </a:solidFill>
      </p:bgPr>
    </p:bg>
    <p:spTree>
      <p:nvGrpSpPr>
        <p:cNvPr id="222" name="Shape 222"/>
        <p:cNvGrpSpPr/>
        <p:nvPr/>
      </p:nvGrpSpPr>
      <p:grpSpPr>
        <a:xfrm>
          <a:off x="0" y="0"/>
          <a:ext cx="0" cy="0"/>
          <a:chOff x="0" y="0"/>
          <a:chExt cx="0" cy="0"/>
        </a:xfrm>
      </p:grpSpPr>
      <p:pic>
        <p:nvPicPr>
          <p:cNvPr id="223" name="Google Shape;223;g3b13fd3ee94_3_12" title="perturbation_variants_comparison.png"/>
          <p:cNvPicPr preferRelativeResize="0"/>
          <p:nvPr/>
        </p:nvPicPr>
        <p:blipFill>
          <a:blip r:embed="rId3">
            <a:alphaModFix/>
          </a:blip>
          <a:stretch>
            <a:fillRect/>
          </a:stretch>
        </p:blipFill>
        <p:spPr>
          <a:xfrm>
            <a:off x="152400" y="361950"/>
            <a:ext cx="8839204" cy="4419602"/>
          </a:xfrm>
          <a:prstGeom prst="rect">
            <a:avLst/>
          </a:prstGeom>
          <a:noFill/>
          <a:ln cap="flat" cmpd="sng" w="9525">
            <a:solidFill>
              <a:srgbClr val="FF6000"/>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227" name="Shape 227"/>
        <p:cNvGrpSpPr/>
        <p:nvPr/>
      </p:nvGrpSpPr>
      <p:grpSpPr>
        <a:xfrm>
          <a:off x="0" y="0"/>
          <a:ext cx="0" cy="0"/>
          <a:chOff x="0" y="0"/>
          <a:chExt cx="0" cy="0"/>
        </a:xfrm>
      </p:grpSpPr>
      <p:sp>
        <p:nvSpPr>
          <p:cNvPr id="228" name="Google Shape;228;g3b13fd3ee94_0_166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Conclusion and Key Findings</a:t>
            </a:r>
            <a:endParaRPr sz="4000"/>
          </a:p>
        </p:txBody>
      </p:sp>
      <p:sp>
        <p:nvSpPr>
          <p:cNvPr id="229" name="Google Shape;229;g3b13fd3ee94_0_166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rPr>
              <a:t>The Robustness Hierarchy</a:t>
            </a:r>
            <a:endParaRPr b="1" sz="1300">
              <a:solidFill>
                <a:srgbClr val="000000"/>
              </a:solidFill>
            </a:endParaRPr>
          </a:p>
          <a:p>
            <a:pPr indent="0" lvl="0" marL="0" rtl="0" algn="l">
              <a:spcBef>
                <a:spcPts val="1200"/>
              </a:spcBef>
              <a:spcAft>
                <a:spcPts val="0"/>
              </a:spcAft>
              <a:buNone/>
            </a:pPr>
            <a:r>
              <a:rPr lang="en" sz="1100">
                <a:solidFill>
                  <a:srgbClr val="000000"/>
                </a:solidFill>
              </a:rPr>
              <a:t>Our systematic evaluation reveals a clear divide in how Large Language Models handle prompt noise. </a:t>
            </a:r>
            <a:r>
              <a:rPr b="1" lang="en" sz="1100">
                <a:solidFill>
                  <a:srgbClr val="000000"/>
                </a:solidFill>
              </a:rPr>
              <a:t>Phi-3</a:t>
            </a:r>
            <a:r>
              <a:rPr lang="en" sz="1100">
                <a:solidFill>
                  <a:srgbClr val="000000"/>
                </a:solidFill>
              </a:rPr>
              <a:t> stands out as the most resilient model, maintaining high semantic consistency across both character and word-level changes. While </a:t>
            </a:r>
            <a:r>
              <a:rPr b="1" lang="en" sz="1100">
                <a:solidFill>
                  <a:srgbClr val="000000"/>
                </a:solidFill>
              </a:rPr>
              <a:t>Gemma, Mistral, and Qwen 2</a:t>
            </a:r>
            <a:r>
              <a:rPr lang="en" sz="1100">
                <a:solidFill>
                  <a:srgbClr val="000000"/>
                </a:solidFill>
              </a:rPr>
              <a:t> showed moderate, predictable degradation, </a:t>
            </a:r>
            <a:r>
              <a:rPr b="1" lang="en" sz="1100">
                <a:solidFill>
                  <a:srgbClr val="000000"/>
                </a:solidFill>
              </a:rPr>
              <a:t>LLaMA 3.2</a:t>
            </a:r>
            <a:r>
              <a:rPr lang="en" sz="1100">
                <a:solidFill>
                  <a:srgbClr val="000000"/>
                </a:solidFill>
              </a:rPr>
              <a:t> was identified as highly sensitive, showing the lowest stability across nearly all testing environments.</a:t>
            </a:r>
            <a:endParaRPr sz="1100">
              <a:solidFill>
                <a:srgbClr val="000000"/>
              </a:solidFill>
            </a:endParaRPr>
          </a:p>
          <a:p>
            <a:pPr indent="0" lvl="0" marL="0" rtl="0" algn="l">
              <a:spcBef>
                <a:spcPts val="1400"/>
              </a:spcBef>
              <a:spcAft>
                <a:spcPts val="0"/>
              </a:spcAft>
              <a:buNone/>
            </a:pPr>
            <a:r>
              <a:rPr b="1" lang="en" sz="1300">
                <a:solidFill>
                  <a:srgbClr val="000000"/>
                </a:solidFill>
              </a:rPr>
              <a:t>Patterns of Failure and Stability</a:t>
            </a:r>
            <a:endParaRPr b="1" sz="1300">
              <a:solidFill>
                <a:srgbClr val="000000"/>
              </a:solidFill>
            </a:endParaRPr>
          </a:p>
          <a:p>
            <a:pPr indent="0" lvl="0" marL="0" rtl="0" algn="l">
              <a:spcBef>
                <a:spcPts val="1200"/>
              </a:spcBef>
              <a:spcAft>
                <a:spcPts val="0"/>
              </a:spcAft>
              <a:buNone/>
            </a:pPr>
            <a:r>
              <a:rPr lang="en" sz="1100">
                <a:solidFill>
                  <a:srgbClr val="000000"/>
                </a:solidFill>
              </a:rPr>
              <a:t>The study confirms that LLMs are generally robust against surface-level noise, such as casing and punctuation. However, they are significantly more vulnerable to semantic-level changes. </a:t>
            </a:r>
            <a:r>
              <a:rPr b="1" lang="en" sz="1100">
                <a:solidFill>
                  <a:srgbClr val="000000"/>
                </a:solidFill>
              </a:rPr>
              <a:t>Simulated paraphrasing</a:t>
            </a:r>
            <a:r>
              <a:rPr lang="en" sz="1100">
                <a:solidFill>
                  <a:srgbClr val="000000"/>
                </a:solidFill>
              </a:rPr>
              <a:t> and </a:t>
            </a:r>
            <a:r>
              <a:rPr b="1" lang="en" sz="1100">
                <a:solidFill>
                  <a:srgbClr val="000000"/>
                </a:solidFill>
              </a:rPr>
              <a:t>combined attacks</a:t>
            </a:r>
            <a:r>
              <a:rPr lang="en" sz="1100">
                <a:solidFill>
                  <a:srgbClr val="000000"/>
                </a:solidFill>
              </a:rPr>
              <a:t> consistently triggered the largest drops in performance, suggesting that high-coverage lexical transformations pose the greatest threat to output reliability in real-world usage.</a:t>
            </a:r>
            <a:endParaRPr sz="1100">
              <a:solidFill>
                <a:srgbClr val="000000"/>
              </a:solidFill>
            </a:endParaRPr>
          </a:p>
          <a:p>
            <a:pPr indent="0" lvl="0" marL="0" rtl="0" algn="l">
              <a:spcBef>
                <a:spcPts val="1200"/>
              </a:spcBef>
              <a:spcAft>
                <a:spcPts val="0"/>
              </a:spcAft>
              <a:buNone/>
            </a:pPr>
            <a:r>
              <a:t/>
            </a:r>
            <a:endParaRPr>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233" name="Shape 233"/>
        <p:cNvGrpSpPr/>
        <p:nvPr/>
      </p:nvGrpSpPr>
      <p:grpSpPr>
        <a:xfrm>
          <a:off x="0" y="0"/>
          <a:ext cx="0" cy="0"/>
          <a:chOff x="0" y="0"/>
          <a:chExt cx="0" cy="0"/>
        </a:xfrm>
      </p:grpSpPr>
      <p:sp>
        <p:nvSpPr>
          <p:cNvPr id="234" name="Google Shape;234;g3b13d058b2f_0_3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a:t>Future Works</a:t>
            </a:r>
            <a:endParaRPr sz="4000"/>
          </a:p>
        </p:txBody>
      </p:sp>
      <p:sp>
        <p:nvSpPr>
          <p:cNvPr id="235" name="Google Shape;235;g3b13d058b2f_0_30"/>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rgbClr val="000000"/>
                </a:solidFill>
              </a:rPr>
              <a:t>Proposed Defense Framework</a:t>
            </a:r>
            <a:endParaRPr b="1" sz="1300">
              <a:solidFill>
                <a:srgbClr val="000000"/>
              </a:solidFill>
            </a:endParaRPr>
          </a:p>
          <a:p>
            <a:pPr indent="0" lvl="0" marL="0" rtl="0" algn="l">
              <a:spcBef>
                <a:spcPts val="1200"/>
              </a:spcBef>
              <a:spcAft>
                <a:spcPts val="0"/>
              </a:spcAft>
              <a:buNone/>
            </a:pPr>
            <a:r>
              <a:rPr lang="en" sz="1100">
                <a:solidFill>
                  <a:srgbClr val="000000"/>
                </a:solidFill>
              </a:rPr>
              <a:t>To mitigate these vulnerabilities, we propose a layered defense pipeline focusing on two primary stages. First, a </a:t>
            </a:r>
            <a:r>
              <a:rPr b="1" lang="en" sz="1100">
                <a:solidFill>
                  <a:srgbClr val="000000"/>
                </a:solidFill>
              </a:rPr>
              <a:t>Self-Denoised Smoothing</a:t>
            </a:r>
            <a:r>
              <a:rPr lang="en" sz="1100">
                <a:solidFill>
                  <a:srgbClr val="000000"/>
                </a:solidFill>
              </a:rPr>
              <a:t> phase would allow models to normalize noisy inputs before generation, filtering out character and lexical errors. Second, a </a:t>
            </a:r>
            <a:r>
              <a:rPr b="1" lang="en" sz="1100">
                <a:solidFill>
                  <a:srgbClr val="000000"/>
                </a:solidFill>
              </a:rPr>
              <a:t>Consensus-based Aggregation</a:t>
            </a:r>
            <a:r>
              <a:rPr lang="en" sz="1100">
                <a:solidFill>
                  <a:srgbClr val="000000"/>
                </a:solidFill>
              </a:rPr>
              <a:t> mechanism would utilize majority voting across multiple prompt variants to ensure the final output remains consistent with user intent.</a:t>
            </a:r>
            <a:endParaRPr sz="1100">
              <a:solidFill>
                <a:srgbClr val="000000"/>
              </a:solidFill>
            </a:endParaRPr>
          </a:p>
          <a:p>
            <a:pPr indent="0" lvl="0" marL="0" rtl="0" algn="l">
              <a:spcBef>
                <a:spcPts val="1400"/>
              </a:spcBef>
              <a:spcAft>
                <a:spcPts val="0"/>
              </a:spcAft>
              <a:buNone/>
            </a:pPr>
            <a:r>
              <a:rPr b="1" lang="en" sz="1300">
                <a:solidFill>
                  <a:srgbClr val="000000"/>
                </a:solidFill>
              </a:rPr>
              <a:t>Strategic Research Directions</a:t>
            </a:r>
            <a:endParaRPr b="1" sz="1300">
              <a:solidFill>
                <a:srgbClr val="000000"/>
              </a:solidFill>
            </a:endParaRPr>
          </a:p>
          <a:p>
            <a:pPr indent="0" lvl="0" marL="0" rtl="0" algn="l">
              <a:spcBef>
                <a:spcPts val="1200"/>
              </a:spcBef>
              <a:spcAft>
                <a:spcPts val="0"/>
              </a:spcAft>
              <a:buNone/>
            </a:pPr>
            <a:r>
              <a:rPr lang="en" sz="1100">
                <a:solidFill>
                  <a:srgbClr val="000000"/>
                </a:solidFill>
              </a:rPr>
              <a:t>Future research will focus on optimizing the balance between denoising strength and the fidelity of the final response. We aim to explore how different architectural choices respond to these defenses and investigate </a:t>
            </a:r>
            <a:r>
              <a:rPr b="1" lang="en" sz="1100">
                <a:solidFill>
                  <a:srgbClr val="000000"/>
                </a:solidFill>
              </a:rPr>
              <a:t>adaptive aggregation strategies</a:t>
            </a:r>
            <a:r>
              <a:rPr lang="en" sz="1100">
                <a:solidFill>
                  <a:srgbClr val="000000"/>
                </a:solidFill>
              </a:rPr>
              <a:t> that can weight outputs based on reliability. Ultimately, this work provides a foundation for building more trustworthy LLMs that can withstand the variability of natural human communication.</a:t>
            </a:r>
            <a:endParaRPr sz="1100">
              <a:solidFill>
                <a:srgbClr val="000000"/>
              </a:solidFill>
            </a:endParaRPr>
          </a:p>
          <a:p>
            <a:pPr indent="0" lvl="0" marL="0" rtl="0" algn="l">
              <a:spcBef>
                <a:spcPts val="1200"/>
              </a:spcBef>
              <a:spcAft>
                <a:spcPts val="0"/>
              </a:spcAft>
              <a:buNone/>
            </a:pPr>
            <a:r>
              <a:t/>
            </a:r>
            <a:endParaRPr b="1" sz="1300">
              <a:solidFill>
                <a:srgbClr val="000000"/>
              </a:solidFill>
            </a:endParaRPr>
          </a:p>
          <a:p>
            <a:pPr indent="0" lvl="0" marL="0" rtl="0" algn="l">
              <a:spcBef>
                <a:spcPts val="1200"/>
              </a:spcBef>
              <a:spcAft>
                <a:spcPts val="0"/>
              </a:spcAft>
              <a:buNone/>
            </a:pPr>
            <a:r>
              <a:t/>
            </a:r>
            <a:endParaRPr>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6000"/>
        </a:solidFill>
      </p:bgPr>
    </p:bg>
    <p:spTree>
      <p:nvGrpSpPr>
        <p:cNvPr id="239" name="Shape 239"/>
        <p:cNvGrpSpPr/>
        <p:nvPr/>
      </p:nvGrpSpPr>
      <p:grpSpPr>
        <a:xfrm>
          <a:off x="0" y="0"/>
          <a:ext cx="0" cy="0"/>
          <a:chOff x="0" y="0"/>
          <a:chExt cx="0" cy="0"/>
        </a:xfrm>
      </p:grpSpPr>
      <p:sp>
        <p:nvSpPr>
          <p:cNvPr id="240" name="Google Shape;240;g3b13fd3ee94_0_1684"/>
          <p:cNvSpPr txBox="1"/>
          <p:nvPr>
            <p:ph type="title"/>
          </p:nvPr>
        </p:nvSpPr>
        <p:spPr>
          <a:xfrm>
            <a:off x="1458450" y="526350"/>
            <a:ext cx="6227100" cy="409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